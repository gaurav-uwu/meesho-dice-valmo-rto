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i1OEMtuMi2TraVfKeQZ1Dn71tw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3" l="0" r="0" t="-833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 rot="-5400000">
            <a:off x="7160271" y="744682"/>
            <a:ext cx="3967448" cy="14347590"/>
          </a:xfrm>
          <a:custGeom>
            <a:rect b="b" l="l" r="r" t="t"/>
            <a:pathLst>
              <a:path extrusionOk="0" h="14347590" w="4277572">
                <a:moveTo>
                  <a:pt x="0" y="0"/>
                </a:moveTo>
                <a:lnTo>
                  <a:pt x="4277572" y="0"/>
                </a:lnTo>
                <a:lnTo>
                  <a:pt x="4277572" y="14347590"/>
                </a:lnTo>
                <a:lnTo>
                  <a:pt x="0" y="143475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89000"/>
            </a:blip>
            <a:stretch>
              <a:fillRect b="0" l="-228716" r="-21668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Parallelogram 90"/>
          <p:cNvSpPr/>
          <p:nvPr/>
        </p:nvSpPr>
        <p:spPr>
          <a:xfrm>
            <a:off x="1421892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Parallelogram 91"/>
          <p:cNvSpPr/>
          <p:nvPr/>
        </p:nvSpPr>
        <p:spPr>
          <a:xfrm>
            <a:off x="1522476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E94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Parallelogram 92"/>
          <p:cNvSpPr/>
          <p:nvPr/>
        </p:nvSpPr>
        <p:spPr>
          <a:xfrm>
            <a:off x="1623060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5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Parallelogram 93"/>
          <p:cNvSpPr/>
          <p:nvPr/>
        </p:nvSpPr>
        <p:spPr>
          <a:xfrm>
            <a:off x="1723644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F45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28016"/>
            <a:ext cx="1836452" cy="914400"/>
          </a:xfrm>
          <a:prstGeom prst="rect">
            <a:avLst/>
          </a:prstGeom>
        </p:spPr>
      </p:pic>
      <p:pic>
        <p:nvPicPr>
          <p:cNvPr id="96" name="Picture 95" descr="meesho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1536" y="210312"/>
            <a:ext cx="768096" cy="768096"/>
          </a:xfrm>
          <a:prstGeom prst="rect">
            <a:avLst/>
          </a:prstGeom>
        </p:spPr>
      </p:pic>
      <p:sp>
        <p:nvSpPr>
          <p:cNvPr id="97" name="Parallelogram 96"/>
          <p:cNvSpPr/>
          <p:nvPr/>
        </p:nvSpPr>
        <p:spPr>
          <a:xfrm>
            <a:off x="1271016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Parallelogram 97"/>
          <p:cNvSpPr/>
          <p:nvPr/>
        </p:nvSpPr>
        <p:spPr>
          <a:xfrm>
            <a:off x="1412748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E94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Parallelogram 98"/>
          <p:cNvSpPr/>
          <p:nvPr/>
        </p:nvSpPr>
        <p:spPr>
          <a:xfrm>
            <a:off x="1554480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5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Parallelogram 99"/>
          <p:cNvSpPr/>
          <p:nvPr/>
        </p:nvSpPr>
        <p:spPr>
          <a:xfrm>
            <a:off x="1696212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F45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8640" y="1353312"/>
            <a:ext cx="1682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C1B3A"/>
                </a:solidFill>
                <a:latin typeface="Segoe UI"/>
              </a:rPr>
              <a:t>RTOs are down. </a:t>
            </a:r>
            <a:r>
              <a:rPr sz="3400" b="1" i="0">
                <a:solidFill>
                  <a:srgbClr val="E6007E"/>
                </a:solidFill>
                <a:latin typeface="Segoe UI"/>
              </a:rPr>
              <a:t>COD is still where it breaks.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" y="2066543"/>
            <a:ext cx="1682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A63"/>
                </a:solidFill>
                <a:latin typeface="Segoe UI"/>
              </a:rPr>
              <a:t>Meesho cut RTO by pushing prepaid and scaling Valmo. But COD is still </a:t>
            </a:r>
            <a:r>
              <a:rPr sz="1250" b="1" i="0">
                <a:solidFill>
                  <a:srgbClr val="1C1B3A"/>
                </a:solidFill>
                <a:latin typeface="Segoe UI"/>
              </a:rPr>
              <a:t>72%</a:t>
            </a:r>
            <a:r>
              <a:rPr sz="1250" b="0" i="0">
                <a:solidFill>
                  <a:srgbClr val="4A4A63"/>
                </a:solidFill>
                <a:latin typeface="Segoe UI"/>
              </a:rPr>
              <a:t> of shipped orders and fails about </a:t>
            </a:r>
            <a:r>
              <a:rPr sz="1250" b="1" i="0">
                <a:solidFill>
                  <a:srgbClr val="1C1B3A"/>
                </a:solidFill>
                <a:latin typeface="Segoe UI"/>
              </a:rPr>
              <a:t>8x</a:t>
            </a:r>
            <a:r>
              <a:rPr sz="1250" b="0" i="0">
                <a:solidFill>
                  <a:srgbClr val="4A4A63"/>
                </a:solidFill>
                <a:latin typeface="Segoe UI"/>
              </a:rPr>
              <a:t> more often than prepaid. Almost every failed delivery today is a COD order.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48640" y="2523744"/>
            <a:ext cx="4206240" cy="3017520"/>
          </a:xfrm>
          <a:prstGeom prst="roundRect">
            <a:avLst>
              <a:gd name="adj" fmla="val 8484"/>
            </a:avLst>
          </a:prstGeom>
          <a:solidFill>
            <a:srgbClr val="FD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59" y="2706624"/>
            <a:ext cx="3657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007E"/>
                </a:solidFill>
                <a:latin typeface="Segoe UI"/>
              </a:rPr>
              <a:t>The scale of 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59" y="3163824"/>
            <a:ext cx="36575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About </a:t>
            </a:r>
            <a:r>
              <a:rPr sz="1200" b="1" i="0">
                <a:solidFill>
                  <a:srgbClr val="1C1B3A"/>
                </a:solidFill>
                <a:latin typeface="Segoe UI"/>
              </a:rPr>
              <a:t>18 of every 100 orders</a:t>
            </a:r>
            <a:r>
              <a:rPr sz="1200" b="0" i="0">
                <a:solidFill>
                  <a:srgbClr val="4A4A63"/>
                </a:solidFill>
                <a:latin typeface="Segoe UI"/>
              </a:rPr>
              <a:t> shipped still fail and travel all the way back.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59" y="4078224"/>
            <a:ext cx="365759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007E"/>
                </a:solidFill>
                <a:latin typeface="Segoe UI"/>
              </a:rPr>
              <a:t>₹170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59" y="4572000"/>
            <a:ext cx="3657599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is what a failed order costs. </a:t>
            </a:r>
            <a:r>
              <a:rPr sz="1200" b="1" i="0">
                <a:solidFill>
                  <a:srgbClr val="1C1B3A"/>
                </a:solidFill>
                <a:latin typeface="Segoe UI"/>
              </a:rPr>
              <a:t>₹50</a:t>
            </a:r>
            <a:r>
              <a:rPr sz="1200" b="0" i="0">
                <a:solidFill>
                  <a:srgbClr val="4A4A63"/>
                </a:solidFill>
                <a:latin typeface="Segoe UI"/>
              </a:rPr>
              <a:t> out and </a:t>
            </a:r>
            <a:r>
              <a:rPr sz="1200" b="1" i="0">
                <a:solidFill>
                  <a:srgbClr val="1C1B3A"/>
                </a:solidFill>
                <a:latin typeface="Segoe UI"/>
              </a:rPr>
              <a:t>₹120</a:t>
            </a:r>
            <a:r>
              <a:rPr sz="1200" b="0" i="0">
                <a:solidFill>
                  <a:srgbClr val="4A4A63"/>
                </a:solidFill>
                <a:latin typeface="Segoe UI"/>
              </a:rPr>
              <a:t> back, against ₹50 for a delivery that works.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956048" y="2523744"/>
            <a:ext cx="3803904" cy="3017520"/>
          </a:xfrm>
          <a:prstGeom prst="roundRect">
            <a:avLst>
              <a:gd name="adj" fmla="val 8484"/>
            </a:avLst>
          </a:prstGeom>
          <a:solidFill>
            <a:srgbClr val="F2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230368" y="2706624"/>
            <a:ext cx="32552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2FD6"/>
                </a:solidFill>
                <a:latin typeface="Segoe UI"/>
              </a:rPr>
              <a:t>What already worked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30368" y="3182111"/>
            <a:ext cx="3255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Prepaid push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30368" y="3410711"/>
            <a:ext cx="3255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COD share 88.7% → 72.0%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230368" y="3749039"/>
            <a:ext cx="3255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Valmo scaled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230368" y="3977639"/>
            <a:ext cx="3255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1.8% → 64.5% of shipments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30368" y="4315968"/>
            <a:ext cx="3255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TrustMesh filtering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30368" y="4544568"/>
            <a:ext cx="32552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high-risk orders screened pre-dispatch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193792" y="4773168"/>
            <a:ext cx="3328416" cy="64008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340096" y="4882896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6B2FD6"/>
                </a:solidFill>
                <a:latin typeface="Segoe UI"/>
              </a:rPr>
              <a:t>-16%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28816" y="4901183"/>
            <a:ext cx="18836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RTO rate, FY23 to FY25. Real progress, but not the finish line.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015984" y="2523744"/>
            <a:ext cx="8723376" cy="3017520"/>
          </a:xfrm>
          <a:prstGeom prst="roundRect">
            <a:avLst>
              <a:gd name="adj" fmla="val 8484"/>
            </a:avLst>
          </a:prstGeom>
          <a:solidFill>
            <a:srgbClr val="FD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9290304" y="2706624"/>
            <a:ext cx="8174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B3A"/>
                </a:solidFill>
                <a:latin typeface="Segoe UI"/>
              </a:rPr>
              <a:t>The gap that did not close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290304" y="3090672"/>
            <a:ext cx="8174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A4A63"/>
                </a:solidFill>
                <a:latin typeface="Segoe UI"/>
              </a:rPr>
              <a:t>RTO rate (% of shipped orders)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326880" y="3675888"/>
            <a:ext cx="786384" cy="731520"/>
          </a:xfrm>
          <a:prstGeom prst="roundRect">
            <a:avLst>
              <a:gd name="adj" fmla="val 12500"/>
            </a:avLst>
          </a:prstGeom>
          <a:solidFill>
            <a:srgbClr val="C3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198863" y="3419856"/>
            <a:ext cx="1042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C1B3A"/>
                </a:solidFill>
                <a:latin typeface="Segoe UI"/>
              </a:rPr>
              <a:t>21.2%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198863" y="4462272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FY23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259567" y="3767328"/>
            <a:ext cx="786384" cy="640080"/>
          </a:xfrm>
          <a:prstGeom prst="roundRect">
            <a:avLst>
              <a:gd name="adj" fmla="val 14285"/>
            </a:avLst>
          </a:prstGeom>
          <a:solidFill>
            <a:srgbClr val="C3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131551" y="3511296"/>
            <a:ext cx="1042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C1B3A"/>
                </a:solidFill>
                <a:latin typeface="Segoe UI"/>
              </a:rPr>
              <a:t>18.6%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131551" y="4462272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FY24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1192255" y="3794760"/>
            <a:ext cx="786384" cy="612648"/>
          </a:xfrm>
          <a:prstGeom prst="roundRect">
            <a:avLst>
              <a:gd name="adj" fmla="val 14925"/>
            </a:avLst>
          </a:prstGeom>
          <a:solidFill>
            <a:srgbClr val="C3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064239" y="3538728"/>
            <a:ext cx="1042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C1B3A"/>
                </a:solidFill>
                <a:latin typeface="Segoe UI"/>
              </a:rPr>
              <a:t>17.8%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1064239" y="4462272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FY25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2124944" y="3776472"/>
            <a:ext cx="786384" cy="630936"/>
          </a:xfrm>
          <a:prstGeom prst="roundRect">
            <a:avLst>
              <a:gd name="adj" fmla="val 14492"/>
            </a:avLst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1996928" y="3520440"/>
            <a:ext cx="10424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C1B3A"/>
                </a:solidFill>
                <a:latin typeface="Segoe UI"/>
              </a:rPr>
              <a:t>18.4%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996928" y="4462272"/>
            <a:ext cx="10424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H1 FY26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9290304" y="4407408"/>
            <a:ext cx="3840480" cy="0"/>
          </a:xfrm>
          <a:prstGeom prst="line">
            <a:avLst/>
          </a:prstGeom>
          <a:ln w="12700">
            <a:solidFill>
              <a:srgbClr val="E2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13496544" y="3090672"/>
            <a:ext cx="39684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A4A63"/>
                </a:solidFill>
                <a:latin typeface="Segoe UI"/>
              </a:rPr>
              <a:t>Delivery success rate by payment type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3533120" y="3658590"/>
            <a:ext cx="493776" cy="748817"/>
          </a:xfrm>
          <a:prstGeom prst="roundRect">
            <a:avLst>
              <a:gd name="adj" fmla="val 18518"/>
            </a:avLst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3405104" y="3420846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C1B3A"/>
                </a:solidFill>
                <a:latin typeface="Segoe UI"/>
              </a:rPr>
              <a:t>78.6%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14100048" y="3474720"/>
            <a:ext cx="493776" cy="932688"/>
          </a:xfrm>
          <a:prstGeom prst="roundRect">
            <a:avLst>
              <a:gd name="adj" fmla="val 18518"/>
            </a:avLst>
          </a:prstGeom>
          <a:solidFill>
            <a:srgbClr val="C3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3972032" y="3236976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C1B3A"/>
                </a:solidFill>
                <a:latin typeface="Segoe UI"/>
              </a:rPr>
              <a:t>97.9%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441680" y="4462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FY24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4849856" y="3667164"/>
            <a:ext cx="493776" cy="740243"/>
          </a:xfrm>
          <a:prstGeom prst="roundRect">
            <a:avLst>
              <a:gd name="adj" fmla="val 18518"/>
            </a:avLst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4721840" y="3429420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C1B3A"/>
                </a:solidFill>
                <a:latin typeface="Segoe UI"/>
              </a:rPr>
              <a:t>77.7%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5416784" y="3480436"/>
            <a:ext cx="493776" cy="926971"/>
          </a:xfrm>
          <a:prstGeom prst="roundRect">
            <a:avLst>
              <a:gd name="adj" fmla="val 18518"/>
            </a:avLst>
          </a:prstGeom>
          <a:solidFill>
            <a:srgbClr val="C3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5288768" y="324269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C1B3A"/>
                </a:solidFill>
                <a:latin typeface="Segoe UI"/>
              </a:rPr>
              <a:t>97.3%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4758416" y="4462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FY25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16166592" y="3684312"/>
            <a:ext cx="493776" cy="723095"/>
          </a:xfrm>
          <a:prstGeom prst="roundRect">
            <a:avLst>
              <a:gd name="adj" fmla="val 18518"/>
            </a:avLst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6038576" y="3446568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C1B3A"/>
                </a:solidFill>
                <a:latin typeface="Segoe UI"/>
              </a:rPr>
              <a:t>75.9%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16733520" y="3489010"/>
            <a:ext cx="493776" cy="918397"/>
          </a:xfrm>
          <a:prstGeom prst="roundRect">
            <a:avLst>
              <a:gd name="adj" fmla="val 18518"/>
            </a:avLst>
          </a:prstGeom>
          <a:solidFill>
            <a:srgbClr val="C3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16605504" y="3251266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C1B3A"/>
                </a:solidFill>
                <a:latin typeface="Segoe UI"/>
              </a:rPr>
              <a:t>96.4%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6075151" y="4462272"/>
            <a:ext cx="1243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H1 FY26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13496544" y="4407408"/>
            <a:ext cx="3968495" cy="0"/>
          </a:xfrm>
          <a:prstGeom prst="line">
            <a:avLst/>
          </a:prstGeom>
          <a:ln w="12700">
            <a:solidFill>
              <a:srgbClr val="E2D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9326880" y="4754879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6007E"/>
                </a:solidFill>
                <a:latin typeface="Segoe UI"/>
              </a:rPr>
              <a:t>20% vs 5%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326880" y="508406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COD RTO against prepaid RTO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115800" y="4754879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6007E"/>
                </a:solidFill>
                <a:latin typeface="Segoe UI"/>
              </a:rPr>
              <a:t>80%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115800" y="508406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of Valmo orders are COD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4904719" y="4754879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6007E"/>
                </a:solidFill>
                <a:latin typeface="Segoe UI"/>
              </a:rPr>
              <a:t>~96%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4904719" y="5084064"/>
            <a:ext cx="2651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of failed deliveries are COD orders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5797296" y="5669280"/>
            <a:ext cx="0" cy="3246120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1356848" y="5669280"/>
            <a:ext cx="0" cy="3246120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548640" y="56509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007E"/>
                </a:solidFill>
                <a:latin typeface="Segoe UI"/>
              </a:rPr>
              <a:t>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15568" y="5760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C1B3A"/>
                </a:solidFill>
                <a:latin typeface="Segoe UI"/>
              </a:rPr>
              <a:t>THE RESIDUAL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15568" y="60350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COD is where failure now lives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6473952"/>
            <a:ext cx="50292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COD fails at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20%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, prepaid at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5%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. Four times the risk on the same network.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548640" y="7050024"/>
            <a:ext cx="502920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548640" y="7095744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COD is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80%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of Valmo orders, so it drives the blended number almost entirely.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548640" y="7616951"/>
            <a:ext cx="502920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548640" y="7662671"/>
            <a:ext cx="5029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Cutting COD share did not cut COD failure. Success fell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78.6% → 75.9%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while the mix moved.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548640" y="8183879"/>
            <a:ext cx="502920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548640" y="8229599"/>
            <a:ext cx="50292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Distance makes it worse: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15% → 22%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returned as the drop moves from 2 km to beyond 10 km.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035040" y="56509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007E"/>
                </a:solidFill>
                <a:latin typeface="Segoe UI"/>
              </a:rPr>
              <a:t>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601968" y="5760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C1B3A"/>
                </a:solidFill>
                <a:latin typeface="Segoe UI"/>
              </a:rPr>
              <a:t>CUSTOMER SIDE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601968" y="60350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Low commitment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035040" y="643737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E6007E"/>
                </a:solidFill>
                <a:latin typeface="Segoe UI"/>
              </a:rPr>
              <a:t>"I can order now and decide later."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035040" y="6729983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No money committed, so refusing at the door is easy.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6035040" y="7031736"/>
            <a:ext cx="512064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6035040" y="7077455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Intent decays while the parcel is in transit.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6035040" y="7379207"/>
            <a:ext cx="512064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6035040" y="7424927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No cash ready, found it cheaper, or simply changed mind.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6035040" y="7726679"/>
            <a:ext cx="512064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TextBox 179"/>
          <p:cNvSpPr txBox="1"/>
          <p:nvPr/>
        </p:nvSpPr>
        <p:spPr>
          <a:xfrm>
            <a:off x="6035040" y="77724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Unavailable at delivery: work, travel, asleep.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6035040" y="8074152"/>
            <a:ext cx="512064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6035040" y="81198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COD used as a risk control, to see and inspect first.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594592" y="56509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007E"/>
                </a:solidFill>
                <a:latin typeface="Segoe UI"/>
              </a:rPr>
              <a:t>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2161519" y="5760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C1B3A"/>
                </a:solidFill>
                <a:latin typeface="Segoe UI"/>
              </a:rPr>
              <a:t>RIDER SIDE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2161519" y="60350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Rational triage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1594592" y="6437376"/>
            <a:ext cx="61447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E6007E"/>
                </a:solidFill>
                <a:latin typeface="Segoe UI"/>
              </a:rPr>
              <a:t>"I prioritise orders that are more likely to succeed."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594592" y="6729983"/>
            <a:ext cx="6144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Paid primarily for successful deliveries, not for effort.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1594592" y="7031736"/>
            <a:ext cx="6144768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/>
          <p:cNvSpPr txBox="1"/>
          <p:nvPr/>
        </p:nvSpPr>
        <p:spPr>
          <a:xfrm>
            <a:off x="11594592" y="7077455"/>
            <a:ext cx="6144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Extra calls, waiting and re-attempts all have an opportunity cost.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11594592" y="7379207"/>
            <a:ext cx="6144768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11594592" y="7424927"/>
            <a:ext cx="6144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COD carries a lower probability of success, so it gets less of that effort.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11594592" y="7744967"/>
            <a:ext cx="6144768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11594592" y="7790688"/>
            <a:ext cx="614476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The case brief says it too: </a:t>
            </a:r>
            <a:r>
              <a:rPr sz="1150" b="0" i="1">
                <a:solidFill>
                  <a:srgbClr val="4A4A63"/>
                </a:solidFill>
                <a:latin typeface="Segoe UI"/>
              </a:rPr>
              <a:t>"riders are paid the same fixed rate for all successful deliveries; for certain specific orders riders have a lower intent, leading to RTO."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48640" y="9034272"/>
            <a:ext cx="11521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C1B3A"/>
                </a:solidFill>
                <a:latin typeface="Segoe UI"/>
              </a:rPr>
              <a:t>The next opportunity is not more prevention. </a:t>
            </a:r>
            <a:r>
              <a:rPr sz="1350" b="0" i="0">
                <a:solidFill>
                  <a:srgbClr val="4A4A63"/>
                </a:solidFill>
                <a:latin typeface="Segoe UI"/>
              </a:rPr>
              <a:t>It is removing the friction that makes COD harder to complete.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12207240" y="9052560"/>
            <a:ext cx="0" cy="402336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12435840" y="9052560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C8CA3"/>
                </a:solidFill>
                <a:latin typeface="Segoe UI"/>
              </a:rPr>
              <a:t>The brief rules out customer-side levers, so the delivery attempt is where we can act.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548640" y="9528048"/>
            <a:ext cx="17190720" cy="0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548640" y="9637776"/>
            <a:ext cx="1426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4A4A63"/>
                </a:solidFill>
                <a:latin typeface="Segoe UI"/>
              </a:rPr>
              <a:t>Source: </a:t>
            </a:r>
            <a:r>
              <a:rPr sz="850" b="0" i="0">
                <a:solidFill>
                  <a:srgbClr val="8C8CA3"/>
                </a:solidFill>
                <a:latin typeface="Segoe UI"/>
              </a:rPr>
              <a:t>Meesho RHP (Nov 2025), rates derived by us. DICE Valmo case data pack. Rider interviews, n=8, Mumbai hubs.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4996159" y="963777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C8CA3"/>
                </a:solidFill>
                <a:latin typeface="Segoe UI"/>
              </a:rPr>
              <a:t>Meesho DICE 3.0  |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Parallelogram 102"/>
          <p:cNvSpPr/>
          <p:nvPr/>
        </p:nvSpPr>
        <p:spPr>
          <a:xfrm>
            <a:off x="1421892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Parallelogram 103"/>
          <p:cNvSpPr/>
          <p:nvPr/>
        </p:nvSpPr>
        <p:spPr>
          <a:xfrm>
            <a:off x="1522476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E94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Parallelogram 104"/>
          <p:cNvSpPr/>
          <p:nvPr/>
        </p:nvSpPr>
        <p:spPr>
          <a:xfrm>
            <a:off x="1623060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5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Parallelogram 105"/>
          <p:cNvSpPr/>
          <p:nvPr/>
        </p:nvSpPr>
        <p:spPr>
          <a:xfrm>
            <a:off x="1723644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F45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28016"/>
            <a:ext cx="1836452" cy="914400"/>
          </a:xfrm>
          <a:prstGeom prst="rect">
            <a:avLst/>
          </a:prstGeom>
        </p:spPr>
      </p:pic>
      <p:pic>
        <p:nvPicPr>
          <p:cNvPr id="108" name="Picture 107" descr="meesho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1536" y="210312"/>
            <a:ext cx="768096" cy="768096"/>
          </a:xfrm>
          <a:prstGeom prst="rect">
            <a:avLst/>
          </a:prstGeom>
        </p:spPr>
      </p:pic>
      <p:sp>
        <p:nvSpPr>
          <p:cNvPr id="109" name="Parallelogram 108"/>
          <p:cNvSpPr/>
          <p:nvPr/>
        </p:nvSpPr>
        <p:spPr>
          <a:xfrm>
            <a:off x="1271016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Parallelogram 109"/>
          <p:cNvSpPr/>
          <p:nvPr/>
        </p:nvSpPr>
        <p:spPr>
          <a:xfrm>
            <a:off x="1412748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E94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1" name="Parallelogram 110"/>
          <p:cNvSpPr/>
          <p:nvPr/>
        </p:nvSpPr>
        <p:spPr>
          <a:xfrm>
            <a:off x="1554480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5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Parallelogram 111"/>
          <p:cNvSpPr/>
          <p:nvPr/>
        </p:nvSpPr>
        <p:spPr>
          <a:xfrm>
            <a:off x="1696212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F45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8640" y="1353312"/>
            <a:ext cx="1682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C1B3A"/>
                </a:solidFill>
                <a:latin typeface="Segoe UI"/>
              </a:rPr>
              <a:t>Six new levers. </a:t>
            </a:r>
            <a:r>
              <a:rPr sz="3400" b="1" i="0">
                <a:solidFill>
                  <a:srgbClr val="E6007E"/>
                </a:solidFill>
                <a:latin typeface="Segoe UI"/>
              </a:rPr>
              <a:t>One is worth doing now.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8640" y="2066543"/>
            <a:ext cx="1682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A63"/>
                </a:solidFill>
                <a:latin typeface="Segoe UI"/>
              </a:rPr>
              <a:t>We only listed fixes Meesho is </a:t>
            </a:r>
            <a:r>
              <a:rPr sz="1250" b="1" i="1">
                <a:solidFill>
                  <a:srgbClr val="1C1B3A"/>
                </a:solidFill>
                <a:latin typeface="Segoe UI"/>
              </a:rPr>
              <a:t>not</a:t>
            </a:r>
            <a:r>
              <a:rPr sz="1250" b="0" i="0">
                <a:solidFill>
                  <a:srgbClr val="4A4A63"/>
                </a:solidFill>
                <a:latin typeface="Segoe UI"/>
              </a:rPr>
              <a:t> already running. Each is scored on impact and effort, then placed on the map.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48640" y="2523744"/>
            <a:ext cx="4206240" cy="3017520"/>
          </a:xfrm>
          <a:prstGeom prst="roundRect">
            <a:avLst>
              <a:gd name="adj" fmla="val 8484"/>
            </a:avLst>
          </a:prstGeom>
          <a:solidFill>
            <a:srgbClr val="FD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2959" y="2706624"/>
            <a:ext cx="36575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007E"/>
                </a:solidFill>
                <a:latin typeface="Segoe UI"/>
              </a:rPr>
              <a:t>Prevent  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(Before dispatch)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2959" y="3054096"/>
            <a:ext cx="3657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A4A63"/>
                </a:solidFill>
                <a:latin typeface="Segoe UI"/>
              </a:rPr>
              <a:t>Stop avoidable failures before the parcel ships.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2959" y="3456432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007E"/>
                </a:solidFill>
                <a:latin typeface="Segoe UI"/>
              </a:rPr>
              <a:t>P1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98448" y="3456432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Confirm before dispatch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98448" y="3712463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Customer not at home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959" y="4059935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6007E"/>
                </a:solidFill>
                <a:latin typeface="Segoe UI"/>
              </a:rPr>
              <a:t>P2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298448" y="4059935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Improve address quality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298448" y="4315968"/>
            <a:ext cx="31638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Wrong or unclear address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956048" y="2523744"/>
            <a:ext cx="3803904" cy="3017520"/>
          </a:xfrm>
          <a:prstGeom prst="roundRect">
            <a:avLst>
              <a:gd name="adj" fmla="val 8484"/>
            </a:avLst>
          </a:prstGeom>
          <a:solidFill>
            <a:srgbClr val="F2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230368" y="2706624"/>
            <a:ext cx="32552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2FD6"/>
                </a:solidFill>
                <a:latin typeface="Segoe UI"/>
              </a:rPr>
              <a:t>Rescue  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(In the field)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30368" y="3054096"/>
            <a:ext cx="32552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A4A63"/>
                </a:solidFill>
                <a:latin typeface="Segoe UI"/>
              </a:rPr>
              <a:t>Convert at-risk deliveries while the rider still has the parcel.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230368" y="3456432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2FD6"/>
                </a:solidFill>
                <a:latin typeface="Segoe UI"/>
              </a:rPr>
              <a:t>R1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705856" y="3456432"/>
            <a:ext cx="2761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Delivery incentive on high-risk COD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705856" y="3712463"/>
            <a:ext cx="2761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Low rider intent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30368" y="4059935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2FD6"/>
                </a:solidFill>
                <a:latin typeface="Segoe UI"/>
              </a:rPr>
              <a:t>R2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705856" y="4059935"/>
            <a:ext cx="2761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Flexible handover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05856" y="4315968"/>
            <a:ext cx="2761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Nobody at the door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230368" y="4663440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2FD6"/>
                </a:solidFill>
                <a:latin typeface="Segoe UI"/>
              </a:rPr>
              <a:t>R3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05856" y="4663440"/>
            <a:ext cx="27614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Better rider-customer contact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705856" y="4919472"/>
            <a:ext cx="2761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Phone unreachable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015984" y="2523744"/>
            <a:ext cx="8723376" cy="3017520"/>
          </a:xfrm>
          <a:prstGeom prst="roundRect">
            <a:avLst>
              <a:gd name="adj" fmla="val 8484"/>
            </a:avLst>
          </a:prstGeom>
          <a:solidFill>
            <a:srgbClr val="FD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290304" y="2706624"/>
            <a:ext cx="81747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B3A"/>
                </a:solidFill>
                <a:latin typeface="Segoe UI"/>
              </a:rPr>
              <a:t>Recover  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(After failure)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290304" y="3054096"/>
            <a:ext cx="8174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4A4A63"/>
                </a:solidFill>
                <a:latin typeface="Segoe UI"/>
              </a:rPr>
              <a:t>Recover value instead of sending every parcel back.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290304" y="3456432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C1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65792" y="3456432"/>
            <a:ext cx="7680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Local re-home, resell or redeploy nearby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765792" y="3712463"/>
            <a:ext cx="7680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Value of a refused unit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272015" y="4133087"/>
            <a:ext cx="8211311" cy="585216"/>
          </a:xfrm>
          <a:prstGeom prst="roundRect">
            <a:avLst>
              <a:gd name="adj" fmla="val 31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436608" y="4224528"/>
            <a:ext cx="788212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C1B3A"/>
                </a:solidFill>
                <a:latin typeface="Segoe UI"/>
              </a:rPr>
              <a:t>The gate: </a:t>
            </a:r>
            <a:r>
              <a:rPr sz="1100" b="0" i="0">
                <a:solidFill>
                  <a:srgbClr val="4A4A63"/>
                </a:solidFill>
                <a:latin typeface="Segoe UI"/>
              </a:rPr>
              <a:t>a Recover lever only qualifies if it lands the parcel, or its value, for less than the ₹120 it costs to send it back.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290304" y="4828031"/>
            <a:ext cx="817473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Already in play, so not scored: </a:t>
            </a:r>
            <a:r>
              <a:rPr sz="1050" b="0" i="0">
                <a:solidFill>
                  <a:srgbClr val="4A4A63"/>
                </a:solidFill>
                <a:latin typeface="Segoe UI"/>
              </a:rPr>
              <a:t>prepaid nudges, TrustMesh risk filtering, predictive routing, reverse-network cost optimisation, checkout geocoding. These are the baseline, not the opportunity.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1356848" y="5669280"/>
            <a:ext cx="0" cy="3246120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548640" y="56509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007E"/>
                </a:solidFill>
                <a:latin typeface="Segoe UI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15568" y="5760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C1B3A"/>
                </a:solidFill>
                <a:latin typeface="Segoe UI"/>
              </a:rPr>
              <a:t>THE MAP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15568" y="60350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Impact against effort, all six plotted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133856" y="6492240"/>
            <a:ext cx="9418320" cy="2103120"/>
          </a:xfrm>
          <a:prstGeom prst="roundRect">
            <a:avLst>
              <a:gd name="adj" fmla="val 10434"/>
            </a:avLst>
          </a:prstGeom>
          <a:solidFill>
            <a:srgbClr val="F2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5843016" y="6492240"/>
            <a:ext cx="0" cy="2103119"/>
          </a:xfrm>
          <a:prstGeom prst="line">
            <a:avLst/>
          </a:prstGeom>
          <a:ln w="12700">
            <a:solidFill>
              <a:srgbClr val="C9B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133856" y="7543800"/>
            <a:ext cx="9418320" cy="0"/>
          </a:xfrm>
          <a:prstGeom prst="line">
            <a:avLst/>
          </a:prstGeom>
          <a:ln w="12700">
            <a:solidFill>
              <a:srgbClr val="C9BE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316736" y="6583679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2FD6"/>
                </a:solidFill>
                <a:latin typeface="Segoe UI"/>
              </a:rPr>
              <a:t>Pursue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316736" y="6803136"/>
            <a:ext cx="4434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pilot now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934456" y="6583679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2FD6"/>
                </a:solidFill>
                <a:latin typeface="Segoe UI"/>
              </a:rPr>
              <a:t>Assess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934456" y="6803136"/>
            <a:ext cx="4434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controls first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16736" y="8138159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8C8CA3"/>
                </a:solidFill>
                <a:latin typeface="Segoe UI"/>
              </a:rPr>
              <a:t>Consider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316736" y="8357615"/>
            <a:ext cx="4434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8C8CA3"/>
                </a:solidFill>
                <a:latin typeface="Segoe UI"/>
              </a:rPr>
              <a:t>shape the case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934456" y="8138159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8C8CA3"/>
                </a:solidFill>
                <a:latin typeface="Segoe UI"/>
              </a:rPr>
              <a:t>Defer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934456" y="8357615"/>
            <a:ext cx="4434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8C8CA3"/>
                </a:solidFill>
                <a:latin typeface="Segoe UI"/>
              </a:rPr>
              <a:t>not now</a:t>
            </a:r>
          </a:p>
        </p:txBody>
      </p:sp>
      <p:sp>
        <p:nvSpPr>
          <p:cNvPr id="160" name="Oval 159"/>
          <p:cNvSpPr/>
          <p:nvPr/>
        </p:nvSpPr>
        <p:spPr>
          <a:xfrm>
            <a:off x="2467051" y="7075627"/>
            <a:ext cx="347472" cy="347472"/>
          </a:xfrm>
          <a:prstGeom prst="ellipse">
            <a:avLst/>
          </a:prstGeom>
          <a:solidFill>
            <a:srgbClr val="F7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2563063" y="7171639"/>
            <a:ext cx="155448" cy="155448"/>
          </a:xfrm>
          <a:prstGeom prst="ellipse">
            <a:avLst/>
          </a:prstGeom>
          <a:solidFill>
            <a:srgbClr val="E60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759659" y="7130491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R1</a:t>
            </a:r>
          </a:p>
        </p:txBody>
      </p:sp>
      <p:sp>
        <p:nvSpPr>
          <p:cNvPr id="163" name="Oval 162"/>
          <p:cNvSpPr/>
          <p:nvPr/>
        </p:nvSpPr>
        <p:spPr>
          <a:xfrm>
            <a:off x="8590788" y="6877202"/>
            <a:ext cx="155448" cy="155448"/>
          </a:xfrm>
          <a:prstGeom prst="ellipse">
            <a:avLst/>
          </a:prstGeom>
          <a:solidFill>
            <a:srgbClr val="1C1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787384" y="683605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C1</a:t>
            </a:r>
          </a:p>
        </p:txBody>
      </p:sp>
      <p:sp>
        <p:nvSpPr>
          <p:cNvPr id="165" name="Oval 164"/>
          <p:cNvSpPr/>
          <p:nvPr/>
        </p:nvSpPr>
        <p:spPr>
          <a:xfrm>
            <a:off x="3316528" y="7760512"/>
            <a:ext cx="155448" cy="155448"/>
          </a:xfrm>
          <a:prstGeom prst="ellipse">
            <a:avLst/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513124" y="7719364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P1</a:t>
            </a:r>
          </a:p>
        </p:txBody>
      </p:sp>
      <p:sp>
        <p:nvSpPr>
          <p:cNvPr id="167" name="Oval 166"/>
          <p:cNvSpPr/>
          <p:nvPr/>
        </p:nvSpPr>
        <p:spPr>
          <a:xfrm>
            <a:off x="4823460" y="7886699"/>
            <a:ext cx="155448" cy="155448"/>
          </a:xfrm>
          <a:prstGeom prst="ellipse">
            <a:avLst/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020056" y="7845551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R3</a:t>
            </a:r>
          </a:p>
        </p:txBody>
      </p:sp>
      <p:sp>
        <p:nvSpPr>
          <p:cNvPr id="169" name="Oval 168"/>
          <p:cNvSpPr/>
          <p:nvPr/>
        </p:nvSpPr>
        <p:spPr>
          <a:xfrm>
            <a:off x="6142024" y="7970824"/>
            <a:ext cx="155448" cy="155448"/>
          </a:xfrm>
          <a:prstGeom prst="ellipse">
            <a:avLst/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338620" y="7929676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R2</a:t>
            </a:r>
          </a:p>
        </p:txBody>
      </p:sp>
      <p:sp>
        <p:nvSpPr>
          <p:cNvPr id="171" name="Oval 170"/>
          <p:cNvSpPr/>
          <p:nvPr/>
        </p:nvSpPr>
        <p:spPr>
          <a:xfrm>
            <a:off x="7837322" y="8054949"/>
            <a:ext cx="155448" cy="155448"/>
          </a:xfrm>
          <a:prstGeom prst="ellipse">
            <a:avLst/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033918" y="8013801"/>
            <a:ext cx="640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B3A"/>
                </a:solidFill>
                <a:latin typeface="Segoe UI"/>
              </a:rPr>
              <a:t>P2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133856" y="8668511"/>
            <a:ext cx="9418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4A4A63"/>
                </a:solidFill>
                <a:latin typeface="Segoe UI"/>
              </a:rPr>
              <a:t>Effort </a:t>
            </a:r>
            <a:r>
              <a:rPr sz="950" b="0" i="0">
                <a:solidFill>
                  <a:srgbClr val="8C8CA3"/>
                </a:solidFill>
                <a:latin typeface="Segoe UI"/>
              </a:rPr>
              <a:t>(build, cost, time to launch, network impact, risk of gaming)  →</a:t>
            </a:r>
          </a:p>
        </p:txBody>
      </p:sp>
      <p:sp>
        <p:nvSpPr>
          <p:cNvPr id="174" name="TextBox 173"/>
          <p:cNvSpPr txBox="1"/>
          <p:nvPr/>
        </p:nvSpPr>
        <p:spPr>
          <a:xfrm rot="16200000">
            <a:off x="566928" y="7415783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A4A63"/>
                </a:solidFill>
                <a:latin typeface="Segoe UI"/>
              </a:rPr>
              <a:t>Impact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2688336" y="6547103"/>
            <a:ext cx="3017520" cy="530352"/>
          </a:xfrm>
          <a:prstGeom prst="roundRect">
            <a:avLst>
              <a:gd name="adj" fmla="val 34482"/>
            </a:avLst>
          </a:prstGeom>
          <a:solidFill>
            <a:srgbClr val="FFFFFF"/>
          </a:solidFill>
          <a:ln w="19050">
            <a:solidFill>
              <a:srgbClr val="F0AE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834640" y="6620255"/>
            <a:ext cx="27249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6007E"/>
                </a:solidFill>
                <a:latin typeface="Segoe UI"/>
              </a:rPr>
              <a:t>R1 is the one to pilot. </a:t>
            </a:r>
            <a:r>
              <a:rPr sz="1050" b="0" i="0">
                <a:solidFill>
                  <a:srgbClr val="4A4A63"/>
                </a:solidFill>
                <a:latin typeface="Segoe UI"/>
              </a:rPr>
              <a:t>High impact, low effort, and nothing new to build.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1594592" y="56509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007E"/>
                </a:solidFill>
                <a:latin typeface="Segoe UI"/>
              </a:rPr>
              <a:t>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2161519" y="5760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C1B3A"/>
                </a:solidFill>
                <a:latin typeface="Segoe UI"/>
              </a:rPr>
              <a:t>HOW WE SCORED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2161519" y="60350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The rules behind the placement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1594592" y="6473952"/>
            <a:ext cx="6144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C1B3A"/>
                </a:solidFill>
                <a:latin typeface="Segoe UI"/>
              </a:rPr>
              <a:t>Impact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is the share of failed COD orders a lever can realistically reach.</a:t>
            </a:r>
          </a:p>
        </p:txBody>
      </p:sp>
      <p:cxnSp>
        <p:nvCxnSpPr>
          <p:cNvPr id="181" name="Connector 180"/>
          <p:cNvCxnSpPr/>
          <p:nvPr/>
        </p:nvCxnSpPr>
        <p:spPr>
          <a:xfrm>
            <a:off x="11594592" y="6903720"/>
            <a:ext cx="6144768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11594592" y="6949440"/>
            <a:ext cx="61447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C1B3A"/>
                </a:solidFill>
                <a:latin typeface="Segoe UI"/>
              </a:rPr>
              <a:t>Effort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blends build work, cost per parcel, time to launch, network impact and how easily it can be gamed.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1594592" y="7525511"/>
            <a:ext cx="6144768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1594592" y="7571231"/>
            <a:ext cx="614476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Prevent levers are judged on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incremental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impact, since TrustMesh and predictive routing already run.</a:t>
            </a:r>
          </a:p>
        </p:txBody>
      </p:sp>
      <p:cxnSp>
        <p:nvCxnSpPr>
          <p:cNvPr id="185" name="Connector 184"/>
          <p:cNvCxnSpPr/>
          <p:nvPr/>
        </p:nvCxnSpPr>
        <p:spPr>
          <a:xfrm>
            <a:off x="11594592" y="8147303"/>
            <a:ext cx="6144768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11594592" y="8193023"/>
            <a:ext cx="6144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Recover levers must beat the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₹120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return cost, or they are deferred.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11594592" y="8622791"/>
            <a:ext cx="6144768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/>
          <p:cNvSpPr txBox="1"/>
          <p:nvPr/>
        </p:nvSpPr>
        <p:spPr>
          <a:xfrm>
            <a:off x="11594592" y="8668511"/>
            <a:ext cx="6144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Scores are directional. We would calibrate them on pilot-cluster data before committing spend.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48640" y="9034272"/>
            <a:ext cx="11521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C1B3A"/>
                </a:solidFill>
                <a:latin typeface="Segoe UI"/>
              </a:rPr>
              <a:t>One lever clears the bar on every test. </a:t>
            </a:r>
            <a:r>
              <a:rPr sz="1350" b="0" i="0">
                <a:solidFill>
                  <a:srgbClr val="4A4A63"/>
                </a:solidFill>
                <a:latin typeface="Segoe UI"/>
              </a:rPr>
              <a:t>Pay for the risky COD orders that actually get delivered.</a:t>
            </a:r>
          </a:p>
        </p:txBody>
      </p:sp>
      <p:cxnSp>
        <p:nvCxnSpPr>
          <p:cNvPr id="190" name="Connector 189"/>
          <p:cNvCxnSpPr/>
          <p:nvPr/>
        </p:nvCxnSpPr>
        <p:spPr>
          <a:xfrm>
            <a:off x="12207240" y="9052560"/>
            <a:ext cx="0" cy="402336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12435840" y="9052560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C8CA3"/>
                </a:solidFill>
                <a:latin typeface="Segoe UI"/>
              </a:rPr>
              <a:t>C1 has the bigger prize but needs legal and fraud controls first. That is a Round 2 move, not a 30-day one.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548640" y="9528048"/>
            <a:ext cx="17190720" cy="0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548640" y="9637776"/>
            <a:ext cx="1426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4A4A63"/>
                </a:solidFill>
                <a:latin typeface="Segoe UI"/>
              </a:rPr>
              <a:t>Source: </a:t>
            </a:r>
            <a:r>
              <a:rPr sz="850" b="0" i="0">
                <a:solidFill>
                  <a:srgbClr val="8C8CA3"/>
                </a:solidFill>
                <a:latin typeface="Segoe UI"/>
              </a:rPr>
              <a:t>DICE Valmo case data pack. Meesho RHP (Nov 2025). Team scoring, assumptions stated above.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4996159" y="963777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C8CA3"/>
                </a:solidFill>
                <a:latin typeface="Segoe UI"/>
              </a:rPr>
              <a:t>Meesho DICE 3.0  |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13"/>
          <p:cNvSpPr/>
          <p:nvPr/>
        </p:nvSpPr>
        <p:spPr>
          <a:xfrm>
            <a:off x="0" y="0"/>
            <a:ext cx="18288000" cy="1188720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Parallelogram 114"/>
          <p:cNvSpPr/>
          <p:nvPr/>
        </p:nvSpPr>
        <p:spPr>
          <a:xfrm>
            <a:off x="1421892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Parallelogram 115"/>
          <p:cNvSpPr/>
          <p:nvPr/>
        </p:nvSpPr>
        <p:spPr>
          <a:xfrm>
            <a:off x="1522476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E94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Parallelogram 116"/>
          <p:cNvSpPr/>
          <p:nvPr/>
        </p:nvSpPr>
        <p:spPr>
          <a:xfrm>
            <a:off x="1623060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5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Parallelogram 117"/>
          <p:cNvSpPr/>
          <p:nvPr/>
        </p:nvSpPr>
        <p:spPr>
          <a:xfrm>
            <a:off x="17236440" y="-54864"/>
            <a:ext cx="1060704" cy="1298448"/>
          </a:xfrm>
          <a:prstGeom prst="parallelogram">
            <a:avLst>
              <a:gd name="adj" fmla="val 42000"/>
            </a:avLst>
          </a:prstGeom>
          <a:solidFill>
            <a:srgbClr val="F45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28016"/>
            <a:ext cx="1836452" cy="914400"/>
          </a:xfrm>
          <a:prstGeom prst="rect">
            <a:avLst/>
          </a:prstGeom>
        </p:spPr>
      </p:pic>
      <p:pic>
        <p:nvPicPr>
          <p:cNvPr id="120" name="Picture 119" descr="meesho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61536" y="210312"/>
            <a:ext cx="768096" cy="768096"/>
          </a:xfrm>
          <a:prstGeom prst="rect">
            <a:avLst/>
          </a:prstGeom>
        </p:spPr>
      </p:pic>
      <p:sp>
        <p:nvSpPr>
          <p:cNvPr id="121" name="Parallelogram 120"/>
          <p:cNvSpPr/>
          <p:nvPr/>
        </p:nvSpPr>
        <p:spPr>
          <a:xfrm>
            <a:off x="1271016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Parallelogram 121"/>
          <p:cNvSpPr/>
          <p:nvPr/>
        </p:nvSpPr>
        <p:spPr>
          <a:xfrm>
            <a:off x="1412748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E94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Parallelogram 122"/>
          <p:cNvSpPr/>
          <p:nvPr/>
        </p:nvSpPr>
        <p:spPr>
          <a:xfrm>
            <a:off x="1554480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5FD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Parallelogram 123"/>
          <p:cNvSpPr/>
          <p:nvPr/>
        </p:nvSpPr>
        <p:spPr>
          <a:xfrm>
            <a:off x="16962120" y="9985248"/>
            <a:ext cx="1481328" cy="384048"/>
          </a:xfrm>
          <a:prstGeom prst="parallelogram">
            <a:avLst>
              <a:gd name="adj" fmla="val 55000"/>
            </a:avLst>
          </a:prstGeom>
          <a:solidFill>
            <a:srgbClr val="F45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8640" y="1353312"/>
            <a:ext cx="1682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1C1B3A"/>
                </a:solidFill>
                <a:latin typeface="Segoe UI"/>
              </a:rPr>
              <a:t>Make the hard stop worth the </a:t>
            </a:r>
            <a:r>
              <a:rPr sz="3400" b="1" i="0">
                <a:solidFill>
                  <a:srgbClr val="E6007E"/>
                </a:solidFill>
                <a:latin typeface="Segoe UI"/>
              </a:rPr>
              <a:t>same effort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640" y="2066543"/>
            <a:ext cx="1682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A4A63"/>
                </a:solidFill>
                <a:latin typeface="Segoe UI"/>
              </a:rPr>
              <a:t>Meesho already knows which orders are likely to fail. Send that to the rider. Pay a </a:t>
            </a:r>
            <a:r>
              <a:rPr sz="1250" b="1" i="0">
                <a:solidFill>
                  <a:srgbClr val="1C1B3A"/>
                </a:solidFill>
                <a:latin typeface="Segoe UI"/>
              </a:rPr>
              <a:t>small bonus</a:t>
            </a:r>
            <a:r>
              <a:rPr sz="1250" b="0" i="0">
                <a:solidFill>
                  <a:srgbClr val="4A4A63"/>
                </a:solidFill>
                <a:latin typeface="Segoe UI"/>
              </a:rPr>
              <a:t> when a risky </a:t>
            </a:r>
            <a:r>
              <a:rPr sz="1250" b="1" i="0">
                <a:solidFill>
                  <a:srgbClr val="1C1B3A"/>
                </a:solidFill>
                <a:latin typeface="Segoe UI"/>
              </a:rPr>
              <a:t>order</a:t>
            </a:r>
            <a:r>
              <a:rPr sz="1250" b="0" i="0">
                <a:solidFill>
                  <a:srgbClr val="4A4A63"/>
                </a:solidFill>
                <a:latin typeface="Segoe UI"/>
              </a:rPr>
              <a:t> gets </a:t>
            </a:r>
            <a:r>
              <a:rPr sz="1250" b="1" i="0">
                <a:solidFill>
                  <a:srgbClr val="1C1B3A"/>
                </a:solidFill>
                <a:latin typeface="Segoe UI"/>
              </a:rPr>
              <a:t>delivered.</a:t>
            </a:r>
            <a:r>
              <a:rPr sz="1250" b="0" i="0">
                <a:solidFill>
                  <a:srgbClr val="4A4A63"/>
                </a:solidFill>
                <a:latin typeface="Segoe UI"/>
              </a:rPr>
              <a:t> Test it for 30 days.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48640" y="2523744"/>
            <a:ext cx="4206240" cy="3017520"/>
          </a:xfrm>
          <a:prstGeom prst="roundRect">
            <a:avLst>
              <a:gd name="adj" fmla="val 8484"/>
            </a:avLst>
          </a:prstGeom>
          <a:solidFill>
            <a:srgbClr val="FD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22959" y="2706624"/>
            <a:ext cx="36575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007E"/>
                </a:solidFill>
                <a:latin typeface="Segoe UI"/>
              </a:rPr>
              <a:t>The quick win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2959" y="3127248"/>
            <a:ext cx="365759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Meesho scores every order for RTO risk before it ships. Today that score stops at the warehouse. </a:t>
            </a:r>
            <a:r>
              <a:rPr sz="1200" b="1" i="0">
                <a:solidFill>
                  <a:srgbClr val="1C1B3A"/>
                </a:solidFill>
                <a:latin typeface="Segoe UI"/>
              </a:rPr>
              <a:t>Send it to the rider. Pay ₹15 extra when a risky order is delivered.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22959" y="4315968"/>
            <a:ext cx="365759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Bringing a failed parcel back costs ₹120. Paying ₹15 to get it delivered is far cheaper. ₹15 is a starting number. Fieldwork will set the real one.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956048" y="2523744"/>
            <a:ext cx="3803904" cy="3017520"/>
          </a:xfrm>
          <a:prstGeom prst="roundRect">
            <a:avLst>
              <a:gd name="adj" fmla="val 8484"/>
            </a:avLst>
          </a:prstGeom>
          <a:solidFill>
            <a:srgbClr val="F2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230368" y="2706624"/>
            <a:ext cx="32552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6B2FD6"/>
                </a:solidFill>
                <a:latin typeface="Segoe UI"/>
              </a:rPr>
              <a:t>Why it should work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230368" y="3127248"/>
            <a:ext cx="3255264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A rider earns only when a delivery succeeds. So he puts his effort into orders that look likely to work.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230368" y="4005072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A bonus on risky orders makes them worth the same effort.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212080" y="4572000"/>
            <a:ext cx="3291840" cy="82296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212080" y="4572000"/>
            <a:ext cx="64008" cy="822960"/>
          </a:xfrm>
          <a:prstGeom prst="rect">
            <a:avLst/>
          </a:prstGeom>
          <a:solidFill>
            <a:srgbClr val="6B2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431536" y="4681727"/>
            <a:ext cx="298094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C1B3A"/>
                </a:solidFill>
                <a:latin typeface="Segoe UI"/>
              </a:rPr>
              <a:t>Same pay, different probability. The bonus rebalances the effort.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015984" y="2523744"/>
            <a:ext cx="8723376" cy="3017520"/>
          </a:xfrm>
          <a:prstGeom prst="roundRect">
            <a:avLst>
              <a:gd name="adj" fmla="val 8484"/>
            </a:avLst>
          </a:prstGeom>
          <a:solidFill>
            <a:srgbClr val="FD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290304" y="2706624"/>
            <a:ext cx="8174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C1B3A"/>
                </a:solidFill>
                <a:latin typeface="Segoe UI"/>
              </a:rPr>
              <a:t>A rider's bag: same stops, different economics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272015" y="3108960"/>
            <a:ext cx="1389888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400032" y="320040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1B3A"/>
                </a:solidFill>
                <a:latin typeface="Segoe UI"/>
              </a:rPr>
              <a:t>Today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400032" y="343814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All stops pay the same.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844784" y="3145536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6C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0844784" y="3145536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96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11146536" y="3145536"/>
            <a:ext cx="0" cy="14630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/>
          <p:cNvSpPr txBox="1"/>
          <p:nvPr/>
        </p:nvSpPr>
        <p:spPr>
          <a:xfrm>
            <a:off x="10689336" y="36393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₹18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1740896" y="3145536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6C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11740896" y="3145536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96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12042648" y="3145536"/>
            <a:ext cx="0" cy="14630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585448" y="36393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₹18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637008" y="3145536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6C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12637008" y="3145536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96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12938760" y="3145536"/>
            <a:ext cx="0" cy="14630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12481560" y="36393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₹18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3533119" y="3145536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6C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13533119" y="3145536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96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>
            <a:off x="13834872" y="3145536"/>
            <a:ext cx="0" cy="14630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13377672" y="363931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₹18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4429232" y="3145536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EF7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14429232" y="3145536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F6A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61" name="Connector 160"/>
          <p:cNvCxnSpPr/>
          <p:nvPr/>
        </p:nvCxnSpPr>
        <p:spPr>
          <a:xfrm>
            <a:off x="14730984" y="3145536"/>
            <a:ext cx="0" cy="146304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14136624" y="3639312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₹18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4136624" y="3822191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C8CA3"/>
                </a:solidFill>
                <a:latin typeface="Segoe UI"/>
              </a:rPr>
              <a:t>(on success)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5508224" y="3182112"/>
            <a:ext cx="1938527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Risky order pays the same, so it gets less effort and often comes back.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272015" y="4078224"/>
            <a:ext cx="1389888" cy="786384"/>
          </a:xfrm>
          <a:prstGeom prst="roundRect">
            <a:avLst>
              <a:gd name="adj" fmla="val 209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400032" y="4169663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1B3A"/>
                </a:solidFill>
                <a:latin typeface="Segoe UI"/>
              </a:rPr>
              <a:t>Pilot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400032" y="4407407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Bonus for the risky order.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844784" y="4114800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6C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10844784" y="4114800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96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70" name="Connector 169"/>
          <p:cNvCxnSpPr/>
          <p:nvPr/>
        </p:nvCxnSpPr>
        <p:spPr>
          <a:xfrm>
            <a:off x="11146536" y="4114800"/>
            <a:ext cx="0" cy="14630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10689336" y="4608575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₹18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11740896" y="4114800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6C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11740896" y="4114800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96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12042648" y="4114800"/>
            <a:ext cx="0" cy="14630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11585448" y="4608575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₹18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2637008" y="4114800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6C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7" name="Rounded Rectangle 176"/>
          <p:cNvSpPr/>
          <p:nvPr/>
        </p:nvSpPr>
        <p:spPr>
          <a:xfrm>
            <a:off x="12637008" y="4114800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96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12938760" y="4114800"/>
            <a:ext cx="0" cy="14630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12481560" y="4608575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₹18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3533119" y="4114800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6C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13533119" y="4114800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96D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>
            <a:off x="13834872" y="4114800"/>
            <a:ext cx="0" cy="14630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/>
          <p:cNvSpPr txBox="1"/>
          <p:nvPr/>
        </p:nvSpPr>
        <p:spPr>
          <a:xfrm>
            <a:off x="13377672" y="4608575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C1B3A"/>
                </a:solidFill>
                <a:latin typeface="Segoe UI"/>
              </a:rPr>
              <a:t>₹18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14429232" y="4114800"/>
            <a:ext cx="603504" cy="457200"/>
          </a:xfrm>
          <a:prstGeom prst="roundRect">
            <a:avLst>
              <a:gd name="adj" fmla="val 24000"/>
            </a:avLst>
          </a:prstGeom>
          <a:solidFill>
            <a:srgbClr val="A78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5" name="Rounded Rectangle 184"/>
          <p:cNvSpPr/>
          <p:nvPr/>
        </p:nvSpPr>
        <p:spPr>
          <a:xfrm>
            <a:off x="14429232" y="4114800"/>
            <a:ext cx="603504" cy="146304"/>
          </a:xfrm>
          <a:prstGeom prst="roundRect">
            <a:avLst>
              <a:gd name="adj" fmla="val 50000"/>
            </a:avLst>
          </a:prstGeom>
          <a:solidFill>
            <a:srgbClr val="C3A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>
            <a:off x="14730984" y="4114800"/>
            <a:ext cx="0" cy="146303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TextBox 186"/>
          <p:cNvSpPr txBox="1"/>
          <p:nvPr/>
        </p:nvSpPr>
        <p:spPr>
          <a:xfrm>
            <a:off x="14136624" y="4608575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B2FD6"/>
                </a:solidFill>
                <a:latin typeface="Segoe UI"/>
              </a:rPr>
              <a:t>₹18 + ₹15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4136624" y="4791455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8C8CA3"/>
                </a:solidFill>
                <a:latin typeface="Segoe UI"/>
              </a:rPr>
              <a:t>(if delivered)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5508224" y="4151375"/>
            <a:ext cx="1938527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4A63"/>
                </a:solidFill>
                <a:latin typeface="Segoe UI"/>
              </a:rPr>
              <a:t>Same effort as any other stop. We test if more get delivered.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9272015" y="5047488"/>
            <a:ext cx="8211311" cy="365760"/>
          </a:xfrm>
          <a:prstGeom prst="roundRect">
            <a:avLst>
              <a:gd name="adj" fmla="val 449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272015" y="5129783"/>
            <a:ext cx="82113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C1B3A"/>
                </a:solidFill>
                <a:latin typeface="Segoe UI"/>
              </a:rPr>
              <a:t>Same stops. Same route. Same rider. Only the pay on the hard order changes.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5797296" y="5669280"/>
            <a:ext cx="0" cy="3246120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1356848" y="5669280"/>
            <a:ext cx="0" cy="3246120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TextBox 193"/>
          <p:cNvSpPr txBox="1"/>
          <p:nvPr/>
        </p:nvSpPr>
        <p:spPr>
          <a:xfrm>
            <a:off x="548640" y="56509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007E"/>
                </a:solidFill>
                <a:latin typeface="Segoe UI"/>
              </a:rPr>
              <a:t>1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115568" y="5760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C1B3A"/>
                </a:solidFill>
                <a:latin typeface="Segoe UI"/>
              </a:rPr>
              <a:t>SIGNAL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115568" y="60350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Send the risk score to the rider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548640" y="649224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C1B3A"/>
                </a:solidFill>
                <a:latin typeface="Segoe UI"/>
              </a:rPr>
              <a:t>Meesho already scores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every order. We use the riskiest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20%.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548640" y="6848855"/>
            <a:ext cx="502920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548640" y="691286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4A4A63"/>
                </a:solidFill>
                <a:latin typeface="Segoe UI"/>
              </a:rPr>
              <a:t>Rider app shows: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Bonus delivery.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Plus </a:t>
            </a:r>
            <a:r>
              <a:rPr sz="1150" b="1" i="0">
                <a:solidFill>
                  <a:srgbClr val="1C1B3A"/>
                </a:solidFill>
                <a:latin typeface="Segoe UI"/>
              </a:rPr>
              <a:t>₹15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on success.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548640" y="7269479"/>
            <a:ext cx="502920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548640" y="7333488"/>
            <a:ext cx="5029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C1B3A"/>
                </a:solidFill>
                <a:latin typeface="Segoe UI"/>
              </a:rPr>
              <a:t>We start with cash on delivery orders.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That is where most failures are.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548640" y="7891271"/>
            <a:ext cx="502920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TextBox 202"/>
          <p:cNvSpPr txBox="1"/>
          <p:nvPr/>
        </p:nvSpPr>
        <p:spPr>
          <a:xfrm>
            <a:off x="548640" y="7955279"/>
            <a:ext cx="50292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C1B3A"/>
                </a:solidFill>
                <a:latin typeface="Segoe UI"/>
              </a:rPr>
              <a:t>Nothing changes for the customer.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Same checkout, same payment, same route.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035040" y="56509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007E"/>
                </a:solidFill>
                <a:latin typeface="Segoe UI"/>
              </a:rPr>
              <a:t>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601968" y="5760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C1B3A"/>
                </a:solidFill>
                <a:latin typeface="Segoe UI"/>
              </a:rPr>
              <a:t>INCENTIVE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601968" y="60350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Pay only for a delivered order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035040" y="649224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C1B3A"/>
                </a:solidFill>
                <a:latin typeface="Segoe UI"/>
              </a:rPr>
              <a:t>Start with ₹15.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Fieldwork sets the real number.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6035040" y="6848855"/>
            <a:ext cx="512064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/>
          <p:cNvSpPr txBox="1"/>
          <p:nvPr/>
        </p:nvSpPr>
        <p:spPr>
          <a:xfrm>
            <a:off x="6035040" y="6912864"/>
            <a:ext cx="5120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C1B3A"/>
                </a:solidFill>
                <a:latin typeface="Segoe UI"/>
              </a:rPr>
              <a:t>Paid only when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the order is delivered and confirmed. Not for trying. Not for volume.</a:t>
            </a:r>
          </a:p>
        </p:txBody>
      </p:sp>
      <p:cxnSp>
        <p:nvCxnSpPr>
          <p:cNvPr id="210" name="Connector 209"/>
          <p:cNvCxnSpPr/>
          <p:nvPr/>
        </p:nvCxnSpPr>
        <p:spPr>
          <a:xfrm>
            <a:off x="6035040" y="7470648"/>
            <a:ext cx="5120640" cy="0"/>
          </a:xfrm>
          <a:prstGeom prst="line">
            <a:avLst/>
          </a:prstGeom>
          <a:ln w="1143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/>
          <p:cNvSpPr txBox="1"/>
          <p:nvPr/>
        </p:nvSpPr>
        <p:spPr>
          <a:xfrm>
            <a:off x="6035040" y="7534656"/>
            <a:ext cx="51206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C1B3A"/>
                </a:solidFill>
                <a:latin typeface="Segoe UI"/>
              </a:rPr>
              <a:t>Paid straight to the rider</a:t>
            </a:r>
            <a:r>
              <a:rPr sz="1150" b="0" i="0">
                <a:solidFill>
                  <a:srgbClr val="4A4A63"/>
                </a:solidFill>
                <a:latin typeface="Segoe UI"/>
              </a:rPr>
              <a:t> through Valmo's existing bonus system. No hub in between.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6035040" y="8046720"/>
            <a:ext cx="5120640" cy="841248"/>
          </a:xfrm>
          <a:prstGeom prst="roundRect">
            <a:avLst>
              <a:gd name="adj" fmla="val 21739"/>
            </a:avLst>
          </a:prstGeom>
          <a:solidFill>
            <a:srgbClr val="FD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236208" y="8119871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Segoe UI"/>
              </a:rPr>
              <a:t>The economics (per rescued order)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6272784" y="83759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C1B3A"/>
                </a:solidFill>
                <a:latin typeface="Segoe UI"/>
              </a:rPr>
              <a:t>₹120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181344" y="8631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800" b="0" i="0">
                <a:solidFill>
                  <a:srgbClr val="4A4A63"/>
                </a:solidFill>
                <a:latin typeface="Segoe UI"/>
              </a:rPr>
              <a:t>Cost to return</a:t>
            </a:r>
          </a:p>
          <a:p>
            <a:pPr algn="ctr">
              <a:lnSpc>
                <a:spcPct val="106000"/>
              </a:lnSpc>
            </a:pPr>
            <a:r>
              <a:rPr sz="800" b="0" i="0">
                <a:solidFill>
                  <a:srgbClr val="4A4A63"/>
                </a:solidFill>
                <a:latin typeface="Segoe UI"/>
              </a:rPr>
              <a:t>a failed parcel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936992" y="83759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C1B3A"/>
                </a:solidFill>
                <a:latin typeface="Segoe UI"/>
              </a:rPr>
              <a:t>₹15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845552" y="8631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800" b="0" i="0">
                <a:solidFill>
                  <a:srgbClr val="4A4A63"/>
                </a:solidFill>
                <a:latin typeface="Segoe UI"/>
              </a:rPr>
              <a:t>Rider bonus</a:t>
            </a:r>
          </a:p>
          <a:p>
            <a:pPr algn="ctr">
              <a:lnSpc>
                <a:spcPct val="106000"/>
              </a:lnSpc>
            </a:pPr>
            <a:r>
              <a:rPr sz="800" b="0" i="0">
                <a:solidFill>
                  <a:srgbClr val="4A4A63"/>
                </a:solidFill>
                <a:latin typeface="Segoe UI"/>
              </a:rPr>
              <a:t>(starting number)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717536" y="837590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C8CA3"/>
                </a:solidFill>
                <a:latin typeface="Segoe UI"/>
              </a:rPr>
              <a:t>−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601200" y="83759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6A34A"/>
                </a:solidFill>
                <a:latin typeface="Segoe UI"/>
              </a:rPr>
              <a:t>~9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509760" y="863193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800" b="0" i="0">
                <a:solidFill>
                  <a:srgbClr val="4A4A63"/>
                </a:solidFill>
                <a:latin typeface="Segoe UI"/>
              </a:rPr>
              <a:t>extra rescues</a:t>
            </a:r>
          </a:p>
          <a:p>
            <a:pPr algn="ctr">
              <a:lnSpc>
                <a:spcPct val="106000"/>
              </a:lnSpc>
            </a:pPr>
            <a:r>
              <a:rPr sz="800" b="0" i="0">
                <a:solidFill>
                  <a:srgbClr val="4A4A63"/>
                </a:solidFill>
                <a:latin typeface="Segoe UI"/>
              </a:rPr>
              <a:t>per 100 risky orders</a:t>
            </a:r>
          </a:p>
          <a:p>
            <a:pPr algn="ctr">
              <a:lnSpc>
                <a:spcPct val="106000"/>
              </a:lnSpc>
            </a:pPr>
            <a:r>
              <a:rPr sz="800" b="0" i="0">
                <a:solidFill>
                  <a:srgbClr val="4A4A63"/>
                </a:solidFill>
                <a:latin typeface="Segoe UI"/>
              </a:rPr>
              <a:t>to break even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9381744" y="8375904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8C8CA3"/>
                </a:solidFill>
                <a:latin typeface="Segoe UI"/>
              </a:rPr>
              <a:t>=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1594592" y="56509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007E"/>
                </a:solidFill>
                <a:latin typeface="Segoe UI"/>
              </a:rPr>
              <a:t>3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2161519" y="57607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C1B3A"/>
                </a:solidFill>
                <a:latin typeface="Segoe UI"/>
              </a:rPr>
              <a:t>TEST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2161519" y="603504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4A63"/>
                </a:solidFill>
                <a:latin typeface="Segoe UI"/>
              </a:rPr>
              <a:t>A 30-day pilot with a control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1594592" y="6492240"/>
            <a:ext cx="6144768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050" b="0" i="0">
                <a:solidFill>
                  <a:srgbClr val="4A4A63"/>
                </a:solidFill>
                <a:latin typeface="Segoe UI"/>
              </a:rPr>
              <a:t>One area. 3 to 5 hubs. About </a:t>
            </a:r>
            <a:r>
              <a:rPr sz="1050" b="1" i="0">
                <a:solidFill>
                  <a:srgbClr val="1C1B3A"/>
                </a:solidFill>
                <a:latin typeface="Segoe UI"/>
              </a:rPr>
              <a:t>100k</a:t>
            </a:r>
            <a:r>
              <a:rPr sz="1050" b="0" i="0">
                <a:solidFill>
                  <a:srgbClr val="4A4A63"/>
                </a:solidFill>
                <a:latin typeface="Segoe UI"/>
              </a:rPr>
              <a:t> risky orders a month. 8 weeks of past data as the baseline.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050" b="0" i="0">
                <a:solidFill>
                  <a:srgbClr val="4A4A63"/>
                </a:solidFill>
                <a:latin typeface="Segoe UI"/>
              </a:rPr>
              <a:t>Some risky orders get the bonus. Some do not. We compare the two.</a:t>
            </a:r>
          </a:p>
          <a:p>
            <a:pPr algn="l">
              <a:lnSpc>
                <a:spcPct val="116000"/>
              </a:lnSpc>
              <a:spcAft>
                <a:spcPts val="200"/>
              </a:spcAft>
            </a:pPr>
            <a:r>
              <a:rPr sz="1050" b="1" i="0">
                <a:solidFill>
                  <a:srgbClr val="1C1B3A"/>
                </a:solidFill>
                <a:latin typeface="Segoe UI"/>
              </a:rPr>
              <a:t>We watch two risks:</a:t>
            </a:r>
            <a:r>
              <a:rPr sz="1050" b="0" i="0">
                <a:solidFill>
                  <a:srgbClr val="4A4A63"/>
                </a:solidFill>
                <a:latin typeface="Segoe UI"/>
              </a:rPr>
              <a:t> riders guessing which orders carry a bonus, and hubs pushing risky orders to the end of the route.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1594592" y="7424927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Segoe UI"/>
              </a:rPr>
              <a:t>What we measure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1594592" y="7680960"/>
            <a:ext cx="2834640" cy="27432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1722608" y="7726679"/>
            <a:ext cx="2615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More risky orders delivered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1594592" y="8010144"/>
            <a:ext cx="2834640" cy="27432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1722608" y="8055863"/>
            <a:ext cx="2615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Normal orders stay the same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11594592" y="8339328"/>
            <a:ext cx="2834640" cy="27432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1722608" y="8385048"/>
            <a:ext cx="2615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Returns and complaints stay flat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11594592" y="8668512"/>
            <a:ext cx="2834640" cy="274320"/>
          </a:xfrm>
          <a:prstGeom prst="roundRect">
            <a:avLst>
              <a:gd name="adj" fmla="val 40000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1722608" y="8714232"/>
            <a:ext cx="26151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4A4A63"/>
                </a:solidFill>
                <a:latin typeface="Segoe UI"/>
              </a:rPr>
              <a:t>Cost per order is not higher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685263" y="7424927"/>
            <a:ext cx="3054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6007E"/>
                </a:solidFill>
                <a:latin typeface="Segoe UI"/>
              </a:rPr>
              <a:t>The decision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14685263" y="7680960"/>
            <a:ext cx="1005840" cy="384048"/>
          </a:xfrm>
          <a:prstGeom prst="roundRect">
            <a:avLst>
              <a:gd name="adj" fmla="val 33333"/>
            </a:avLst>
          </a:prstGeom>
          <a:solidFill>
            <a:srgbClr val="E7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4685263" y="777240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6A34A"/>
                </a:solidFill>
                <a:latin typeface="Segoe UI"/>
              </a:rPr>
              <a:t>GO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15800832" y="7662672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63"/>
                </a:solidFill>
                <a:latin typeface="Segoe UI"/>
              </a:rPr>
              <a:t>More risky orders delivered and returns stay flat.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4685263" y="8138160"/>
            <a:ext cx="1005840" cy="384048"/>
          </a:xfrm>
          <a:prstGeom prst="roundRect">
            <a:avLst>
              <a:gd name="adj" fmla="val 33333"/>
            </a:avLst>
          </a:prstGeom>
          <a:solidFill>
            <a:srgbClr val="FD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4685263" y="822960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007E"/>
                </a:solidFill>
                <a:latin typeface="Segoe UI"/>
              </a:rPr>
              <a:t>KILL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5800832" y="8119872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63"/>
                </a:solidFill>
                <a:latin typeface="Segoe UI"/>
              </a:rPr>
              <a:t>More delivered but returns go up.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4685263" y="8595360"/>
            <a:ext cx="1005840" cy="384048"/>
          </a:xfrm>
          <a:prstGeom prst="roundRect">
            <a:avLst>
              <a:gd name="adj" fmla="val 33333"/>
            </a:avLst>
          </a:prstGeom>
          <a:solidFill>
            <a:srgbClr val="F4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4685263" y="8686800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A4A63"/>
                </a:solidFill>
                <a:latin typeface="Segoe UI"/>
              </a:rPr>
              <a:t>NO EFFECT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5800832" y="8577072"/>
            <a:ext cx="193852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A4A63"/>
                </a:solidFill>
                <a:latin typeface="Segoe UI"/>
              </a:rPr>
              <a:t>No change. Then rider effort was not the problem. Still a useful result.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48640" y="9034272"/>
            <a:ext cx="115214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1C1B3A"/>
                </a:solidFill>
                <a:latin typeface="Segoe UI"/>
              </a:rPr>
              <a:t>If it works, RTO goes down. </a:t>
            </a:r>
            <a:r>
              <a:rPr sz="1350" b="0" i="0">
                <a:solidFill>
                  <a:srgbClr val="4A4A63"/>
                </a:solidFill>
                <a:latin typeface="Segoe UI"/>
              </a:rPr>
              <a:t>Delivery cost, rider pay, speed and ease of ordering all stay the same.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12207240" y="9052560"/>
            <a:ext cx="0" cy="402336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12435840" y="9052560"/>
            <a:ext cx="5303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C8CA3"/>
                </a:solidFill>
                <a:latin typeface="Segoe UI"/>
              </a:rPr>
              <a:t>We are not saying riders cause RTO. We are testing if better pay on hard orders brings back the orders we lose today.</a:t>
            </a:r>
          </a:p>
        </p:txBody>
      </p:sp>
      <p:cxnSp>
        <p:nvCxnSpPr>
          <p:cNvPr id="248" name="Connector 247"/>
          <p:cNvCxnSpPr/>
          <p:nvPr/>
        </p:nvCxnSpPr>
        <p:spPr>
          <a:xfrm>
            <a:off x="548640" y="9528048"/>
            <a:ext cx="17190720" cy="0"/>
          </a:xfrm>
          <a:prstGeom prst="line">
            <a:avLst/>
          </a:prstGeom>
          <a:ln w="12700">
            <a:solidFill>
              <a:srgbClr val="E6E4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TextBox 248"/>
          <p:cNvSpPr txBox="1"/>
          <p:nvPr/>
        </p:nvSpPr>
        <p:spPr>
          <a:xfrm>
            <a:off x="548640" y="9637776"/>
            <a:ext cx="1426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4A4A63"/>
                </a:solidFill>
                <a:latin typeface="Segoe UI"/>
              </a:rPr>
              <a:t>Source: </a:t>
            </a:r>
            <a:r>
              <a:rPr sz="850" b="0" i="0">
                <a:solidFill>
                  <a:srgbClr val="8C8CA3"/>
                </a:solidFill>
                <a:latin typeface="Segoe UI"/>
              </a:rPr>
              <a:t>DICE Valmo case data pack (₹50 forward, ₹120 reverse). Valmo delivery partner agreement. Rider interviews, n=8, Mumbai hubs.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4996159" y="963777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8C8CA3"/>
                </a:solidFill>
                <a:latin typeface="Segoe UI"/>
              </a:rPr>
              <a:t>Meesho DICE 3.0  |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0" y="91845"/>
            <a:ext cx="18288000" cy="10195155"/>
          </a:xfrm>
          <a:custGeom>
            <a:rect b="b" l="l" r="r" t="t"/>
            <a:pathLst>
              <a:path extrusionOk="0" h="10195155" w="18288000">
                <a:moveTo>
                  <a:pt x="0" y="0"/>
                </a:moveTo>
                <a:lnTo>
                  <a:pt x="18288000" y="0"/>
                </a:lnTo>
                <a:lnTo>
                  <a:pt x="18288000" y="10195155"/>
                </a:lnTo>
                <a:lnTo>
                  <a:pt x="0" y="10195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51655"/>
            </a:stretch>
          </a:blipFill>
          <a:ln>
            <a:noFill/>
          </a:ln>
        </p:spPr>
      </p:sp>
      <p:grpSp>
        <p:nvGrpSpPr>
          <p:cNvPr id="127" name="Google Shape;127;p5"/>
          <p:cNvGrpSpPr/>
          <p:nvPr/>
        </p:nvGrpSpPr>
        <p:grpSpPr>
          <a:xfrm>
            <a:off x="0" y="-36165"/>
            <a:ext cx="18288000" cy="2464240"/>
            <a:chOff x="0" y="-48220"/>
            <a:chExt cx="24384000" cy="3285653"/>
          </a:xfrm>
        </p:grpSpPr>
        <p:sp>
          <p:nvSpPr>
            <p:cNvPr id="128" name="Google Shape;128;p5"/>
            <p:cNvSpPr/>
            <p:nvPr/>
          </p:nvSpPr>
          <p:spPr>
            <a:xfrm>
              <a:off x="6699722" y="0"/>
              <a:ext cx="17684278" cy="3237433"/>
            </a:xfrm>
            <a:custGeom>
              <a:rect b="b" l="l" r="r" t="t"/>
              <a:pathLst>
                <a:path extrusionOk="0" h="3237433" w="17684278">
                  <a:moveTo>
                    <a:pt x="0" y="0"/>
                  </a:moveTo>
                  <a:lnTo>
                    <a:pt x="17684278" y="0"/>
                  </a:lnTo>
                  <a:lnTo>
                    <a:pt x="17684278" y="3237433"/>
                  </a:lnTo>
                  <a:lnTo>
                    <a:pt x="0" y="323743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666342" l="0" r="0" t="0"/>
              </a:stretch>
            </a:blipFill>
            <a:ln>
              <a:noFill/>
            </a:ln>
          </p:spPr>
        </p:sp>
        <p:grpSp>
          <p:nvGrpSpPr>
            <p:cNvPr id="129" name="Google Shape;129;p5"/>
            <p:cNvGrpSpPr/>
            <p:nvPr/>
          </p:nvGrpSpPr>
          <p:grpSpPr>
            <a:xfrm>
              <a:off x="0" y="-48220"/>
              <a:ext cx="13015052" cy="3285653"/>
              <a:chOff x="0" y="-9525"/>
              <a:chExt cx="2570874" cy="649018"/>
            </a:xfrm>
          </p:grpSpPr>
          <p:sp>
            <p:nvSpPr>
              <p:cNvPr id="130" name="Google Shape;130;p5"/>
              <p:cNvSpPr/>
              <p:nvPr/>
            </p:nvSpPr>
            <p:spPr>
              <a:xfrm>
                <a:off x="0" y="0"/>
                <a:ext cx="2570874" cy="639493"/>
              </a:xfrm>
              <a:custGeom>
                <a:rect b="b" l="l" r="r" t="t"/>
                <a:pathLst>
                  <a:path extrusionOk="0" h="639493" w="2570874">
                    <a:moveTo>
                      <a:pt x="0" y="0"/>
                    </a:moveTo>
                    <a:lnTo>
                      <a:pt x="2570874" y="0"/>
                    </a:lnTo>
                    <a:lnTo>
                      <a:pt x="2570874" y="639493"/>
                    </a:lnTo>
                    <a:lnTo>
                      <a:pt x="0" y="639493"/>
                    </a:lnTo>
                    <a:close/>
                  </a:path>
                </a:pathLst>
              </a:custGeom>
              <a:solidFill>
                <a:srgbClr val="FFF3D7"/>
              </a:solidFill>
              <a:ln>
                <a:noFill/>
              </a:ln>
            </p:spPr>
          </p:sp>
          <p:sp>
            <p:nvSpPr>
              <p:cNvPr id="131" name="Google Shape;131;p5"/>
              <p:cNvSpPr txBox="1"/>
              <p:nvPr/>
            </p:nvSpPr>
            <p:spPr>
              <a:xfrm>
                <a:off x="0" y="-9525"/>
                <a:ext cx="2570873" cy="649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9375" lIns="29375" spcFirstLastPara="1" rIns="29375" wrap="square" tIns="29375">
                <a:noAutofit/>
              </a:bodyPr>
              <a:lstStyle/>
              <a:p>
                <a:pPr indent="0" lvl="0" marL="0" marR="0" rtl="0" algn="ctr">
                  <a:lnSpc>
                    <a:spcPct val="166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" name="Google Shape;132;p5"/>
            <p:cNvSpPr/>
            <p:nvPr/>
          </p:nvSpPr>
          <p:spPr>
            <a:xfrm>
              <a:off x="538320" y="184543"/>
              <a:ext cx="5215177" cy="2868347"/>
            </a:xfrm>
            <a:custGeom>
              <a:rect b="b" l="l" r="r" t="t"/>
              <a:pathLst>
                <a:path extrusionOk="0" h="2868347" w="5215177">
                  <a:moveTo>
                    <a:pt x="0" y="0"/>
                  </a:moveTo>
                  <a:lnTo>
                    <a:pt x="5215177" y="0"/>
                  </a:lnTo>
                  <a:lnTo>
                    <a:pt x="5215177" y="2868347"/>
                  </a:lnTo>
                  <a:lnTo>
                    <a:pt x="0" y="286834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3" name="Google Shape;133;p5"/>
            <p:cNvSpPr/>
            <p:nvPr/>
          </p:nvSpPr>
          <p:spPr>
            <a:xfrm>
              <a:off x="935278" y="425330"/>
              <a:ext cx="4803566" cy="2386772"/>
            </a:xfrm>
            <a:custGeom>
              <a:rect b="b" l="l" r="r" t="t"/>
              <a:pathLst>
                <a:path extrusionOk="0" h="2386772" w="4803566">
                  <a:moveTo>
                    <a:pt x="0" y="0"/>
                  </a:moveTo>
                  <a:lnTo>
                    <a:pt x="4803566" y="0"/>
                  </a:lnTo>
                  <a:lnTo>
                    <a:pt x="4803566" y="2386772"/>
                  </a:lnTo>
                  <a:lnTo>
                    <a:pt x="0" y="23867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